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lus Jakarta Sans ExtraBold"/>
      <p:bold r:id="rId18"/>
      <p:boldItalic r:id="rId19"/>
    </p:embeddedFon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Plus Jakarta Sans"/>
      <p:regular r:id="rId28"/>
      <p:bold r:id="rId29"/>
      <p:italic r:id="rId30"/>
      <p:boldItalic r:id="rId31"/>
    </p:embeddedFont>
    <p:embeddedFont>
      <p:font typeface="Plus Jakarta Sans SemiBold"/>
      <p:regular r:id="rId32"/>
      <p:bold r:id="rId33"/>
      <p:italic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PlusJakartaSans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-boldItalic.fntdata"/><Relationship Id="rId30" Type="http://schemas.openxmlformats.org/officeDocument/2006/relationships/font" Target="fonts/PlusJakartaSans-italic.fntdata"/><Relationship Id="rId11" Type="http://schemas.openxmlformats.org/officeDocument/2006/relationships/slide" Target="slides/slide6.xml"/><Relationship Id="rId33" Type="http://schemas.openxmlformats.org/officeDocument/2006/relationships/font" Target="fonts/PlusJakartaSansSemiBold-bold.fntdata"/><Relationship Id="rId10" Type="http://schemas.openxmlformats.org/officeDocument/2006/relationships/slide" Target="slides/slide5.xml"/><Relationship Id="rId32" Type="http://schemas.openxmlformats.org/officeDocument/2006/relationships/font" Target="fonts/PlusJakartaSans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PlusJakartaSans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PlusJakartaSansSemiBold-italic.fntdata"/><Relationship Id="rId15" Type="http://schemas.openxmlformats.org/officeDocument/2006/relationships/slide" Target="slides/slide10.xml"/><Relationship Id="rId37" Type="http://schemas.openxmlformats.org/officeDocument/2006/relationships/font" Target="fonts/InterMedium-bold.fntdata"/><Relationship Id="rId14" Type="http://schemas.openxmlformats.org/officeDocument/2006/relationships/slide" Target="slides/slide9.xml"/><Relationship Id="rId36" Type="http://schemas.openxmlformats.org/officeDocument/2006/relationships/font" Target="fonts/InterMedium-regular.fntdata"/><Relationship Id="rId17" Type="http://schemas.openxmlformats.org/officeDocument/2006/relationships/slide" Target="slides/slide12.xml"/><Relationship Id="rId39" Type="http://schemas.openxmlformats.org/officeDocument/2006/relationships/font" Target="fonts/InterMedium-boldItalic.fntdata"/><Relationship Id="rId16" Type="http://schemas.openxmlformats.org/officeDocument/2006/relationships/slide" Target="slides/slide11.xml"/><Relationship Id="rId38" Type="http://schemas.openxmlformats.org/officeDocument/2006/relationships/font" Target="fonts/InterMedium-italic.fntdata"/><Relationship Id="rId19" Type="http://schemas.openxmlformats.org/officeDocument/2006/relationships/font" Target="fonts/PlusJakartaSansExtraBold-boldItalic.fntdata"/><Relationship Id="rId18" Type="http://schemas.openxmlformats.org/officeDocument/2006/relationships/font" Target="fonts/PlusJakart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73744a37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e73744a3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3.jp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9.png"/><Relationship Id="rId13" Type="http://schemas.openxmlformats.org/officeDocument/2006/relationships/image" Target="../media/image25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Relationship Id="rId1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24.png"/><Relationship Id="rId7" Type="http://schemas.openxmlformats.org/officeDocument/2006/relationships/image" Target="../media/image20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9.png"/><Relationship Id="rId10" Type="http://schemas.openxmlformats.org/officeDocument/2006/relationships/image" Target="../media/image38.png"/><Relationship Id="rId13" Type="http://schemas.openxmlformats.org/officeDocument/2006/relationships/image" Target="../media/image34.png"/><Relationship Id="rId1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7.png"/><Relationship Id="rId15" Type="http://schemas.openxmlformats.org/officeDocument/2006/relationships/image" Target="../media/image40.png"/><Relationship Id="rId14" Type="http://schemas.openxmlformats.org/officeDocument/2006/relationships/image" Target="../media/image43.png"/><Relationship Id="rId16" Type="http://schemas.openxmlformats.org/officeDocument/2006/relationships/image" Target="../media/image42.png"/><Relationship Id="rId5" Type="http://schemas.openxmlformats.org/officeDocument/2006/relationships/image" Target="../media/image35.png"/><Relationship Id="rId6" Type="http://schemas.openxmlformats.org/officeDocument/2006/relationships/image" Target="../media/image30.png"/><Relationship Id="rId7" Type="http://schemas.openxmlformats.org/officeDocument/2006/relationships/image" Target="../media/image33.png"/><Relationship Id="rId8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6.png"/><Relationship Id="rId5" Type="http://schemas.openxmlformats.org/officeDocument/2006/relationships/image" Target="../media/image44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9.png"/><Relationship Id="rId10" Type="http://schemas.openxmlformats.org/officeDocument/2006/relationships/image" Target="../media/image58.png"/><Relationship Id="rId13" Type="http://schemas.openxmlformats.org/officeDocument/2006/relationships/image" Target="../media/image53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8.png"/><Relationship Id="rId4" Type="http://schemas.openxmlformats.org/officeDocument/2006/relationships/image" Target="../media/image55.png"/><Relationship Id="rId9" Type="http://schemas.openxmlformats.org/officeDocument/2006/relationships/image" Target="../media/image54.png"/><Relationship Id="rId14" Type="http://schemas.openxmlformats.org/officeDocument/2006/relationships/image" Target="../media/image2.png"/><Relationship Id="rId5" Type="http://schemas.openxmlformats.org/officeDocument/2006/relationships/image" Target="../media/image60.png"/><Relationship Id="rId6" Type="http://schemas.openxmlformats.org/officeDocument/2006/relationships/image" Target="../media/image41.png"/><Relationship Id="rId7" Type="http://schemas.openxmlformats.org/officeDocument/2006/relationships/image" Target="../media/image50.png"/><Relationship Id="rId8" Type="http://schemas.openxmlformats.org/officeDocument/2006/relationships/image" Target="../media/image5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Relationship Id="rId4" Type="http://schemas.openxmlformats.org/officeDocument/2006/relationships/image" Target="../media/image2.png"/><Relationship Id="rId5" Type="http://schemas.openxmlformats.org/officeDocument/2006/relationships/image" Target="../media/image47.png"/><Relationship Id="rId6" Type="http://schemas.openxmlformats.org/officeDocument/2006/relationships/image" Target="../media/image51.png"/><Relationship Id="rId7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3525" y="2941141"/>
            <a:ext cx="912495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305401" y="624929"/>
            <a:ext cx="9581197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Why Does House Price Prediction </a:t>
            </a:r>
            <a:r>
              <a:rPr b="0" i="0" lang="en-US" sz="4800" u="none" cap="none" strike="noStrike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Matter?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38475" y="2194470"/>
            <a:ext cx="61150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From Business Problem to Production-Ready AI Solution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769941"/>
            <a:ext cx="7620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 estate pricing is often subjective and time-consuming. Buyers and sellers need quick, data-driven estimates to make confident decisions in a fast-moving market.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6091237" y="3236416"/>
            <a:ext cx="9525" cy="8572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0225" y="5851921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2124075" y="5866209"/>
            <a:ext cx="6572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Transform raw property data into actionable pricing intelligence.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829395" y="3236416"/>
            <a:ext cx="397549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OBJECTIVE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924050" y="3484066"/>
            <a:ext cx="37861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Build an AI-powered house price prediction system.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387107" y="3236416"/>
            <a:ext cx="397549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OUTCOME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481762" y="3484066"/>
            <a:ext cx="37861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Production-ready prediction API.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466850"/>
            <a:ext cx="503872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71525" y="1466850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Current Challenges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71525" y="3661320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Business Opportunity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76325" y="190500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Manual valuation takes significant time.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76325" y="233169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Pricing varies across locations and property types.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76325" y="275838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Human estimates can be inconsistent and biased.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76325" y="409947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Faster property valuation.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76325" y="452616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Improved, data-backed decision-making.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76325" y="4952851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Better customer experience.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58102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1419225" y="5724525"/>
            <a:ext cx="4162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A reliable pricing engine creates business value.</a:t>
            </a:r>
            <a:endParaRPr/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476375"/>
            <a:ext cx="5019675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Problem Are We Solving?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924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3507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7774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1185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5452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97190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5450" y="2914650"/>
            <a:ext cx="279082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589597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390650" y="5910262"/>
            <a:ext cx="75342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Strong dataset with sufficient historical information for predictive modeling.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2124075" y="4019550"/>
            <a:ext cx="1933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Property Records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381750" y="1766887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Model Features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381750" y="4388048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Target Variable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686550" y="2205037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Location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Size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686550" y="2631727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Bedrooms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Bathrooms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686550" y="3058417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Year Built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Condition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686550" y="3485108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Property Type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Date Sold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686550" y="4826198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House Price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Data Do We Have?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2240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65077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07746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50415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845248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71525" y="581025"/>
            <a:ext cx="5340667" cy="100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Did the Data Reveal?</a:t>
            </a:r>
            <a:endParaRPr/>
          </a:p>
        </p:txBody>
      </p:sp>
      <p:pic>
        <p:nvPicPr>
          <p:cNvPr id="150" name="Google Shape;150;p16"/>
          <p:cNvPicPr preferRelativeResize="0"/>
          <p:nvPr/>
        </p:nvPicPr>
        <p:blipFill rotWithShape="1">
          <a:blip r:embed="rId4">
            <a:alphaModFix/>
          </a:blip>
          <a:srcRect b="0" l="100" r="100" t="0"/>
          <a:stretch/>
        </p:blipFill>
        <p:spPr>
          <a:xfrm>
            <a:off x="6334125" y="9525"/>
            <a:ext cx="5848349" cy="685564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/>
          <p:nvPr/>
        </p:nvSpPr>
        <p:spPr>
          <a:xfrm>
            <a:off x="771525" y="1590675"/>
            <a:ext cx="75902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771525" y="1971675"/>
            <a:ext cx="534066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Analysis Performed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71525" y="3823245"/>
            <a:ext cx="534066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Key Insights</a:t>
            </a:r>
            <a:endParaRPr/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581769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1419225" y="5731966"/>
            <a:ext cx="4210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EDA helps identify meaningful drivers of house prices.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076325" y="2409825"/>
            <a:ext cx="4781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Missing value analysis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1076325" y="2836515"/>
            <a:ext cx="4781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Feature distributions &amp; Price trends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076325" y="3263205"/>
            <a:ext cx="4781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Correlation analysis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076325" y="4261395"/>
            <a:ext cx="4781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Size: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Strongly impacts baseline price.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076325" y="4688085"/>
            <a:ext cx="4781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Location: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Influences pricing significantly.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076325" y="5114776"/>
            <a:ext cx="4781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Contributes directly to valuation.</a:t>
            </a:r>
            <a:endParaRPr/>
          </a:p>
        </p:txBody>
      </p:sp>
      <p:pic>
        <p:nvPicPr>
          <p:cNvPr descr="image.png" id="162" name="Google Shape;16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428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8555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28225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804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70713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133826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26890"/>
            <a:ext cx="3346400" cy="3175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2725" y="2026890"/>
            <a:ext cx="3346400" cy="3175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3925" y="2026890"/>
            <a:ext cx="3346400" cy="317554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771525" y="1466850"/>
            <a:ext cx="10648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Why?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convert business information into machine-readable features.</a:t>
            </a:r>
            <a:endParaRPr/>
          </a:p>
        </p:txBody>
      </p:sp>
      <p:pic>
        <p:nvPicPr>
          <p:cNvPr descr="image.png" id="177" name="Google Shape;17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225" y="58959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1476375" y="5910262"/>
            <a:ext cx="4676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Better features lead to better predictions.</a:t>
            </a:r>
            <a:endParaRPr/>
          </a:p>
        </p:txBody>
      </p:sp>
      <p:pic>
        <p:nvPicPr>
          <p:cNvPr descr="image.png" id="179" name="Google Shape;17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23412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1009650" y="3065115"/>
            <a:ext cx="301365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Created</a:t>
            </a:r>
            <a:endParaRPr/>
          </a:p>
        </p:txBody>
      </p:sp>
      <p:pic>
        <p:nvPicPr>
          <p:cNvPr descr="image.png" id="181" name="Google Shape;18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0850" y="23412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4660850" y="3065115"/>
            <a:ext cx="301365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Removed</a:t>
            </a:r>
            <a:endParaRPr/>
          </a:p>
        </p:txBody>
      </p:sp>
      <p:pic>
        <p:nvPicPr>
          <p:cNvPr descr="image.png" id="183" name="Google Shape;18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12050" y="23412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8312050" y="3065115"/>
            <a:ext cx="301365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Encoded</a:t>
            </a:r>
            <a:endParaRPr/>
          </a:p>
        </p:txBody>
      </p:sp>
      <p:pic>
        <p:nvPicPr>
          <p:cNvPr descr="image.png" id="185" name="Google Shape;18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47762" y="249361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1314450" y="341754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Property Age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1314450" y="384423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Sale Year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1314450" y="427092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Sale Month</a:t>
            </a:r>
            <a:endParaRPr/>
          </a:p>
        </p:txBody>
      </p:sp>
      <p:pic>
        <p:nvPicPr>
          <p:cNvPr descr="image.png" id="189" name="Google Shape;189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98962" y="249361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4965650" y="341754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Property ID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4965650" y="384423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Raw Date Fields</a:t>
            </a:r>
            <a:endParaRPr/>
          </a:p>
        </p:txBody>
      </p:sp>
      <p:pic>
        <p:nvPicPr>
          <p:cNvPr descr="image.png" id="192" name="Google Shape;192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35875" y="249361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8616850" y="341754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Location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8616850" y="384423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Property Type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8616850" y="427092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Condition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Did We Improve the Data?</a:t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8" name="Google Shape;198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650" y="34365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650" y="386328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650" y="42899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60850" y="34365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60850" y="386328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12050" y="343659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12050" y="386328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12050" y="42899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3657" y="1466850"/>
            <a:ext cx="5496817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771525" y="1466850"/>
            <a:ext cx="480966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Evaluation Metrics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771525" y="3566070"/>
            <a:ext cx="458063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Why?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Start simple, benchmark performance, then select the best-performing solution.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5786236" y="1466850"/>
            <a:ext cx="57716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R² Performance Comparison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1076325" y="1905000"/>
            <a:ext cx="427583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Mean Absolute Error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076325" y="2331690"/>
            <a:ext cx="427583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RMSE: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Root Mean Squared Error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1076325" y="2758380"/>
            <a:ext cx="427583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R² Score: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Accuracy benchmark</a:t>
            </a:r>
            <a:endParaRPr/>
          </a:p>
        </p:txBody>
      </p:sp>
      <p:pic>
        <p:nvPicPr>
          <p:cNvPr descr="image.png" id="218" name="Google Shape;21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581025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 txBox="1"/>
          <p:nvPr/>
        </p:nvSpPr>
        <p:spPr>
          <a:xfrm>
            <a:off x="1476375" y="5724525"/>
            <a:ext cx="36471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Model selection should be evidence-driven, not assumption-driven.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Compare Multiple Models?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1924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3507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77743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466850"/>
            <a:ext cx="503872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771525" y="1466850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Technical Advantages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771525" y="4088010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Technical Decision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1076325" y="190500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Handles nonlinear relationships.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1076325" y="233169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Captures feature interactions.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1076325" y="275838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performance on tabular datasets.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1076325" y="318507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Production-proven architecture.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1076325" y="452616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n_jobs = -1 (Multi-core processing)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1076325" y="4952851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Benefits: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Faster training, better scalability.</a:t>
            </a:r>
            <a:endParaRPr/>
          </a:p>
        </p:txBody>
      </p:sp>
      <p:pic>
        <p:nvPicPr>
          <p:cNvPr descr="image.png" id="239" name="Google Shape;23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58102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9"/>
          <p:cNvSpPr txBox="1"/>
          <p:nvPr/>
        </p:nvSpPr>
        <p:spPr>
          <a:xfrm>
            <a:off x="1447800" y="5724525"/>
            <a:ext cx="41338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XGBoost balanced accuracy, scalability, and deployment readiness.</a:t>
            </a:r>
            <a:endParaRPr/>
          </a:p>
        </p:txBody>
      </p:sp>
      <p:pic>
        <p:nvPicPr>
          <p:cNvPr descr="image.png" id="241" name="Google Shape;24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476375"/>
            <a:ext cx="5019675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9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Was XGBoost Selected?</a:t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924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3507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7774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2041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54521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97190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466850"/>
            <a:ext cx="10648950" cy="2272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1956345"/>
            <a:ext cx="1524000" cy="12934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52775" y="1857375"/>
            <a:ext cx="1524000" cy="14915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0" y="1956345"/>
            <a:ext cx="1524000" cy="12934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15225" y="1956345"/>
            <a:ext cx="1524000" cy="12934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96450" y="1956345"/>
            <a:ext cx="1524000" cy="129346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/>
          <p:nvPr/>
        </p:nvSpPr>
        <p:spPr>
          <a:xfrm>
            <a:off x="1312497" y="2584102"/>
            <a:ext cx="9567005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2" name="Google Shape;26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8225" y="58959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0"/>
          <p:cNvSpPr txBox="1"/>
          <p:nvPr/>
        </p:nvSpPr>
        <p:spPr>
          <a:xfrm>
            <a:off x="1476375" y="5910262"/>
            <a:ext cx="5705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The solution is fully automated and production-ready.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1113472" y="2604045"/>
            <a:ext cx="124015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Excel Dataset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1143000" y="2842170"/>
            <a:ext cx="11811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Raw property data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3294697" y="2505075"/>
            <a:ext cx="124015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Processing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3324225" y="2743200"/>
            <a:ext cx="11811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Feature Engineering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5475922" y="2604045"/>
            <a:ext cx="124015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XGBoost Model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5505450" y="2842170"/>
            <a:ext cx="11811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Model.pkl Artifact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7657147" y="2604045"/>
            <a:ext cx="124015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FastAPI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7686675" y="2842170"/>
            <a:ext cx="11811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Prediction API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9838372" y="2604045"/>
            <a:ext cx="124015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 User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9867900" y="2842170"/>
            <a:ext cx="11811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Instant Valuations</a:t>
            </a:r>
            <a:endParaRPr/>
          </a:p>
        </p:txBody>
      </p:sp>
      <p:pic>
        <p:nvPicPr>
          <p:cNvPr descr="image.png" id="274" name="Google Shape;274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00200" y="219447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81425" y="20955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62650" y="219447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143875" y="219447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291762" y="219447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0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Does the End-to-End System Work?</a:t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1" name="Google Shape;281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690812" y="2507902"/>
            <a:ext cx="2667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872037" y="2507902"/>
            <a:ext cx="2667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053262" y="2507902"/>
            <a:ext cx="2667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234487" y="2507902"/>
            <a:ext cx="2667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5000"/>
            <a:ext cx="5038725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 txBox="1"/>
          <p:nvPr/>
        </p:nvSpPr>
        <p:spPr>
          <a:xfrm>
            <a:off x="771525" y="1466850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Deployment Stack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771525" y="3566070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API allows seamless integration into any frontend interface or internal tooling dashboard.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6381750" y="1466850"/>
            <a:ext cx="5290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API Example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1076325" y="190500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FastAPI: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High-performance framework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1076325" y="233169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Swagger: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Auto-generated API documentation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1076325" y="2758380"/>
            <a:ext cx="47339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Ngrok: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Secure public endpoint routing</a:t>
            </a:r>
            <a:endParaRPr/>
          </a:p>
        </p:txBody>
      </p:sp>
      <p:pic>
        <p:nvPicPr>
          <p:cNvPr descr="image.png" id="297" name="Google Shape;29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581025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1"/>
          <p:cNvSpPr txBox="1"/>
          <p:nvPr/>
        </p:nvSpPr>
        <p:spPr>
          <a:xfrm>
            <a:off x="1476375" y="5724525"/>
            <a:ext cx="41052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Predictions are accessible through a simple and scalable API.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6610350" y="2152650"/>
            <a:ext cx="128617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POST /predict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8153846" y="2152650"/>
            <a:ext cx="85739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"Location"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9182844" y="2152650"/>
            <a:ext cx="85739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A7F3D0"/>
                </a:solidFill>
                <a:latin typeface="Courier New"/>
                <a:ea typeface="Courier New"/>
                <a:cs typeface="Courier New"/>
                <a:sym typeface="Courier New"/>
              </a:rPr>
              <a:t>"Downtown"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6610350" y="2366962"/>
            <a:ext cx="94327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"Size_sqft"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7725221" y="2366962"/>
            <a:ext cx="34304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DF6E3"/>
                </a:solidFill>
                <a:latin typeface="Courier New"/>
                <a:ea typeface="Courier New"/>
                <a:cs typeface="Courier New"/>
                <a:sym typeface="Courier New"/>
              </a:rPr>
              <a:t>2400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8239869" y="2366962"/>
            <a:ext cx="85739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"Bedrooms"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9268866" y="2366962"/>
            <a:ext cx="8587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DF6E3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9526339" y="2366962"/>
            <a:ext cx="94327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"Bathrooms"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10641210" y="2366962"/>
            <a:ext cx="8587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DF6E3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6610350" y="2581275"/>
            <a:ext cx="120044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"Property_Age"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7982396" y="2581275"/>
            <a:ext cx="8587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DF6E3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8325594" y="2581275"/>
            <a:ext cx="85739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Response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9440316" y="2581275"/>
            <a:ext cx="68594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"status"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10297864" y="2581275"/>
            <a:ext cx="77167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A7F3D0"/>
                </a:solidFill>
                <a:latin typeface="Courier New"/>
                <a:ea typeface="Courier New"/>
                <a:cs typeface="Courier New"/>
                <a:sym typeface="Courier New"/>
              </a:rPr>
              <a:t>"success"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6610350" y="2795587"/>
            <a:ext cx="145762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"Predicted_Price"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8239571" y="2795587"/>
            <a:ext cx="51449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DF6E3"/>
                </a:solidFill>
                <a:latin typeface="Courier New"/>
                <a:ea typeface="Courier New"/>
                <a:cs typeface="Courier New"/>
                <a:sym typeface="Courier New"/>
              </a:rPr>
              <a:t>450000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Can Users Consume Predictions?</a:t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7" name="Google Shape;31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19240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3507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77743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466850"/>
            <a:ext cx="3346400" cy="3686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2725" y="1466850"/>
            <a:ext cx="3346400" cy="3686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3925" y="1466850"/>
            <a:ext cx="3346400" cy="3686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225" y="5800576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2"/>
          <p:cNvSpPr txBox="1"/>
          <p:nvPr/>
        </p:nvSpPr>
        <p:spPr>
          <a:xfrm>
            <a:off x="1390650" y="5705326"/>
            <a:ext cx="98012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Message: This project demonstrates the complete AI Product Engineering lifecycle: Problem Understanding → Data Analysis → Modeling → Deployment → Business Impact.</a:t>
            </a:r>
            <a:endParaRPr/>
          </a:p>
        </p:txBody>
      </p:sp>
      <p:pic>
        <p:nvPicPr>
          <p:cNvPr descr="image.png" id="330" name="Google Shape;33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17811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2"/>
          <p:cNvSpPr txBox="1"/>
          <p:nvPr/>
        </p:nvSpPr>
        <p:spPr>
          <a:xfrm>
            <a:off x="1009650" y="2505075"/>
            <a:ext cx="301365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Results</a:t>
            </a:r>
            <a:endParaRPr/>
          </a:p>
        </p:txBody>
      </p:sp>
      <p:pic>
        <p:nvPicPr>
          <p:cNvPr descr="image.png" id="332" name="Google Shape;33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0850" y="17811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2"/>
          <p:cNvSpPr txBox="1"/>
          <p:nvPr/>
        </p:nvSpPr>
        <p:spPr>
          <a:xfrm>
            <a:off x="4660850" y="2505075"/>
            <a:ext cx="301365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Business Impact</a:t>
            </a:r>
            <a:endParaRPr/>
          </a:p>
        </p:txBody>
      </p:sp>
      <p:pic>
        <p:nvPicPr>
          <p:cNvPr descr="image.png" id="334" name="Google Shape;334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12050" y="17811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2"/>
          <p:cNvSpPr txBox="1"/>
          <p:nvPr/>
        </p:nvSpPr>
        <p:spPr>
          <a:xfrm>
            <a:off x="8312050" y="2505075"/>
            <a:ext cx="301365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Future Enhancements</a:t>
            </a:r>
            <a:endParaRPr/>
          </a:p>
        </p:txBody>
      </p:sp>
      <p:pic>
        <p:nvPicPr>
          <p:cNvPr descr="image.png" id="336" name="Google Shape;336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76337" y="193357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2"/>
          <p:cNvSpPr txBox="1"/>
          <p:nvPr/>
        </p:nvSpPr>
        <p:spPr>
          <a:xfrm>
            <a:off x="1314450" y="285750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Accurate prediction model.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1314450" y="328419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Production-ready API.</a:t>
            </a:r>
            <a:endParaRPr/>
          </a:p>
        </p:txBody>
      </p:sp>
      <p:sp>
        <p:nvSpPr>
          <p:cNvPr id="339" name="Google Shape;339;p22"/>
          <p:cNvSpPr txBox="1"/>
          <p:nvPr/>
        </p:nvSpPr>
        <p:spPr>
          <a:xfrm>
            <a:off x="1314450" y="371088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Multi-core training.</a:t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1314450" y="413757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Scalable architecture.</a:t>
            </a:r>
            <a:endParaRPr/>
          </a:p>
        </p:txBody>
      </p:sp>
      <p:pic>
        <p:nvPicPr>
          <p:cNvPr descr="image.png" id="341" name="Google Shape;341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98962" y="193357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2"/>
          <p:cNvSpPr txBox="1"/>
          <p:nvPr/>
        </p:nvSpPr>
        <p:spPr>
          <a:xfrm>
            <a:off x="4965650" y="285750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Faster valuations.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4965650" y="328419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Reduced manual effort.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4965650" y="371088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Improved pricing consistency.</a:t>
            </a:r>
            <a:endParaRPr/>
          </a:p>
        </p:txBody>
      </p:sp>
      <p:pic>
        <p:nvPicPr>
          <p:cNvPr descr="image.png" id="345" name="Google Shape;345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64450" y="19335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2"/>
          <p:cNvSpPr txBox="1"/>
          <p:nvPr/>
        </p:nvSpPr>
        <p:spPr>
          <a:xfrm>
            <a:off x="8616850" y="2857500"/>
            <a:ext cx="2565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Cloud deployment (AWS/Azure)</a:t>
            </a:r>
            <a:endParaRPr/>
          </a:p>
        </p:txBody>
      </p:sp>
      <p:sp>
        <p:nvSpPr>
          <p:cNvPr id="347" name="Google Shape;347;p22"/>
          <p:cNvSpPr txBox="1"/>
          <p:nvPr/>
        </p:nvSpPr>
        <p:spPr>
          <a:xfrm>
            <a:off x="8616850" y="355848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 monitoring</a:t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8616850" y="398517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Explainable AI (SHAP)</a:t>
            </a:r>
            <a:endParaRPr/>
          </a:p>
        </p:txBody>
      </p:sp>
      <p:sp>
        <p:nvSpPr>
          <p:cNvPr id="349" name="Google Shape;349;p22"/>
          <p:cNvSpPr txBox="1"/>
          <p:nvPr/>
        </p:nvSpPr>
        <p:spPr>
          <a:xfrm>
            <a:off x="8616850" y="4411860"/>
            <a:ext cx="256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Real-time retraining</a:t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Was Achieved?</a:t>
            </a:r>
            <a:endParaRPr/>
          </a:p>
        </p:txBody>
      </p:sp>
      <p:sp>
        <p:nvSpPr>
          <p:cNvPr id="351" name="Google Shape;351;p22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2" name="Google Shape;352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650" y="2876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650" y="33032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650" y="37299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9650" y="41566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60850" y="2876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60850" y="33032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60850" y="37299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12050" y="2876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12050" y="357753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12050" y="40042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12050" y="443091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7" name="Google Shape;36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3"/>
          <p:cNvSpPr/>
          <p:nvPr/>
        </p:nvSpPr>
        <p:spPr>
          <a:xfrm>
            <a:off x="771525" y="1466850"/>
            <a:ext cx="10648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771525" y="2449710"/>
            <a:ext cx="10648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0" name="Google Shape;37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485900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/>
          <p:nvPr/>
        </p:nvSpPr>
        <p:spPr>
          <a:xfrm>
            <a:off x="771525" y="2440185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771525" y="2440185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3" name="Google Shape;37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68760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3"/>
          <p:cNvSpPr/>
          <p:nvPr/>
        </p:nvSpPr>
        <p:spPr>
          <a:xfrm>
            <a:off x="771525" y="3224956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771525" y="3224956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6" name="Google Shape;3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253531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325" y="1715392"/>
            <a:ext cx="1828800" cy="54858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3"/>
          <p:cNvSpPr txBox="1"/>
          <p:nvPr/>
        </p:nvSpPr>
        <p:spPr>
          <a:xfrm>
            <a:off x="2171700" y="1609725"/>
            <a:ext cx="92487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https://media.istockphoto.com/id/2208958683/vector/city-buildings-abstract-background-smart-city-urban-concept-real-estate-organization-office.jpg?s=612x612&amp;w=0&amp;k=20&amp;c=qjikhzsf4166wYfmJ6rWOcPjZJeJtBRC8MZRmPDX6t4=</a:t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2171700" y="2053530"/>
            <a:ext cx="92487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380" name="Google Shape;38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6325" y="25991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3"/>
          <p:cNvSpPr txBox="1"/>
          <p:nvPr/>
        </p:nvSpPr>
        <p:spPr>
          <a:xfrm>
            <a:off x="2171700" y="2592585"/>
            <a:ext cx="92487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https://images.stockcake.com/public/c/9/a/c9a7a5e8-a217-445c-bdf0-e740903f156c_large/modern-data-dashboard-stockcake.jpg</a:t>
            </a:r>
            <a:endParaRPr/>
          </a:p>
        </p:txBody>
      </p:sp>
      <p:sp>
        <p:nvSpPr>
          <p:cNvPr id="382" name="Google Shape;382;p23"/>
          <p:cNvSpPr txBox="1"/>
          <p:nvPr/>
        </p:nvSpPr>
        <p:spPr>
          <a:xfrm>
            <a:off x="2171700" y="2838301"/>
            <a:ext cx="92487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pic>
        <p:nvPicPr>
          <p:cNvPr descr="image.png" id="383" name="Google Shape;38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6325" y="33839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3"/>
          <p:cNvSpPr txBox="1"/>
          <p:nvPr/>
        </p:nvSpPr>
        <p:spPr>
          <a:xfrm>
            <a:off x="2171700" y="3377356"/>
            <a:ext cx="92487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https://cdn.botpenguin.com/assets/website/Deep_Neural_Network_2b9d9075e9.webp</a:t>
            </a:r>
            <a:endParaRPr/>
          </a:p>
        </p:txBody>
      </p:sp>
      <p:sp>
        <p:nvSpPr>
          <p:cNvPr id="385" name="Google Shape;385;p23"/>
          <p:cNvSpPr txBox="1"/>
          <p:nvPr/>
        </p:nvSpPr>
        <p:spPr>
          <a:xfrm>
            <a:off x="2171700" y="3623071"/>
            <a:ext cx="92487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botpenguin.com</a:t>
            </a:r>
            <a:endParaRPr/>
          </a:p>
        </p:txBody>
      </p:sp>
      <p:sp>
        <p:nvSpPr>
          <p:cNvPr id="386" name="Google Shape;386;p23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87" name="Google Shape;387;p23"/>
          <p:cNvSpPr/>
          <p:nvPr/>
        </p:nvSpPr>
        <p:spPr>
          <a:xfrm>
            <a:off x="771525" y="1085850"/>
            <a:ext cx="76200" cy="3429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"/>
          <p:cNvSpPr txBox="1"/>
          <p:nvPr/>
        </p:nvSpPr>
        <p:spPr>
          <a:xfrm>
            <a:off x="2501975" y="2202950"/>
            <a:ext cx="69177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Queries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You.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